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Lst>
  <p:sldSz cx="18288000" cy="10287000"/>
  <p:notesSz cx="6858000" cy="9144000"/>
  <p:embeddedFontLst>
    <p:embeddedFont>
      <p:font typeface="Cabin" panose="020B0604020202020204" charset="0"/>
      <p:regular r:id="rId13"/>
    </p:embeddedFont>
    <p:embeddedFont>
      <p:font typeface="Cabin Bold" panose="020B0604020202020204" charset="0"/>
      <p:regular r:id="rId14"/>
    </p:embeddedFont>
    <p:embeddedFont>
      <p:font typeface="Cabin Semi-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802"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18969" y="5415775"/>
            <a:ext cx="6151124" cy="1957704"/>
          </a:xfrm>
          <a:prstGeom prst="rect">
            <a:avLst/>
          </a:prstGeom>
        </p:spPr>
        <p:txBody>
          <a:bodyPr lIns="0" tIns="0" rIns="0" bIns="0" rtlCol="0" anchor="t">
            <a:spAutoFit/>
          </a:bodyPr>
          <a:lstStyle/>
          <a:p>
            <a:pPr algn="just">
              <a:lnSpc>
                <a:spcPts val="3920"/>
              </a:lnSpc>
            </a:pPr>
            <a:r>
              <a:rPr lang="en-US" sz="2800" noProof="1">
                <a:solidFill>
                  <a:srgbClr val="000000"/>
                </a:solidFill>
                <a:latin typeface="Cabin"/>
                <a:ea typeface="Cabin"/>
                <a:cs typeface="Cabin"/>
                <a:sym typeface="Cabin"/>
              </a:rPr>
              <a:t>Tên : Phạm Hữu Ân</a:t>
            </a:r>
          </a:p>
          <a:p>
            <a:pPr marL="0" lvl="0" indent="0" algn="just">
              <a:lnSpc>
                <a:spcPts val="3920"/>
              </a:lnSpc>
              <a:spcBef>
                <a:spcPct val="0"/>
              </a:spcBef>
            </a:pPr>
            <a:r>
              <a:rPr lang="en-US" sz="2800" noProof="1">
                <a:solidFill>
                  <a:srgbClr val="000000"/>
                </a:solidFill>
                <a:latin typeface="Cabin"/>
                <a:ea typeface="Cabin"/>
                <a:cs typeface="Cabin"/>
                <a:sym typeface="Cabin"/>
              </a:rPr>
              <a:t>MSSV : 1150080084</a:t>
            </a:r>
          </a:p>
          <a:p>
            <a:pPr marL="0" lvl="0" indent="0" algn="just">
              <a:lnSpc>
                <a:spcPts val="3920"/>
              </a:lnSpc>
              <a:spcBef>
                <a:spcPct val="0"/>
              </a:spcBef>
            </a:pPr>
            <a:r>
              <a:rPr lang="en-US" sz="2800" u="none" noProof="1">
                <a:solidFill>
                  <a:srgbClr val="000000"/>
                </a:solidFill>
                <a:latin typeface="Cabin"/>
                <a:ea typeface="Cabin"/>
                <a:cs typeface="Cabin"/>
                <a:sym typeface="Cabin"/>
              </a:rPr>
              <a:t>Lớp : CNPM1 </a:t>
            </a:r>
          </a:p>
          <a:p>
            <a:pPr marL="0" lvl="0" indent="0" algn="just">
              <a:lnSpc>
                <a:spcPts val="3920"/>
              </a:lnSpc>
              <a:spcBef>
                <a:spcPct val="0"/>
              </a:spcBef>
            </a:pPr>
            <a:endParaRPr lang="en-US" sz="2800" u="none" noProof="1">
              <a:solidFill>
                <a:srgbClr val="000000"/>
              </a:solidFill>
              <a:latin typeface="Cabin"/>
              <a:ea typeface="Cabin"/>
              <a:cs typeface="Cabin"/>
              <a:sym typeface="Cabin"/>
            </a:endParaRPr>
          </a:p>
        </p:txBody>
      </p:sp>
      <p:sp>
        <p:nvSpPr>
          <p:cNvPr id="3" name="TextBox 3"/>
          <p:cNvSpPr txBox="1"/>
          <p:nvPr/>
        </p:nvSpPr>
        <p:spPr>
          <a:xfrm>
            <a:off x="1600200" y="2019300"/>
            <a:ext cx="16366378" cy="2029979"/>
          </a:xfrm>
          <a:prstGeom prst="rect">
            <a:avLst/>
          </a:prstGeom>
        </p:spPr>
        <p:txBody>
          <a:bodyPr wrap="square" lIns="0" tIns="0" rIns="0" bIns="0" rtlCol="0" anchor="t">
            <a:spAutoFit/>
          </a:bodyPr>
          <a:lstStyle/>
          <a:p>
            <a:pPr marL="0" lvl="0" indent="0" algn="ctr">
              <a:lnSpc>
                <a:spcPts val="8107"/>
              </a:lnSpc>
            </a:pPr>
            <a:r>
              <a:rPr lang="en-US" sz="6700" b="1" spc="201" noProof="1">
                <a:solidFill>
                  <a:srgbClr val="1836B2"/>
                </a:solidFill>
                <a:latin typeface="Cabin Bold"/>
                <a:ea typeface="Cabin Bold"/>
                <a:cs typeface="Cabin Bold"/>
                <a:sym typeface="Cabin Bold"/>
              </a:rPr>
              <a:t>Áp dụng kĩ thuật kiểm thử chuyển đổi trạng thái cho vòng đời đơn hàng</a:t>
            </a:r>
          </a:p>
        </p:txBody>
      </p:sp>
      <p:grpSp>
        <p:nvGrpSpPr>
          <p:cNvPr id="4" name="Group 4"/>
          <p:cNvGrpSpPr/>
          <p:nvPr/>
        </p:nvGrpSpPr>
        <p:grpSpPr>
          <a:xfrm>
            <a:off x="-1342781" y="8827215"/>
            <a:ext cx="4742962" cy="4392438"/>
            <a:chOff x="0" y="0"/>
            <a:chExt cx="5800804" cy="5372100"/>
          </a:xfrm>
        </p:grpSpPr>
        <p:sp>
          <p:nvSpPr>
            <p:cNvPr id="5" name="Freeform 5"/>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en-US" noProof="1"/>
            </a:p>
          </p:txBody>
        </p:sp>
      </p:grpSp>
      <p:grpSp>
        <p:nvGrpSpPr>
          <p:cNvPr id="6" name="Group 6"/>
          <p:cNvGrpSpPr/>
          <p:nvPr/>
        </p:nvGrpSpPr>
        <p:grpSpPr>
          <a:xfrm rot="-10800000">
            <a:off x="-3810000" y="-4540684"/>
            <a:ext cx="10210354" cy="6226137"/>
            <a:chOff x="0" y="0"/>
            <a:chExt cx="8809804" cy="5372100"/>
          </a:xfrm>
        </p:grpSpPr>
        <p:sp>
          <p:nvSpPr>
            <p:cNvPr id="7" name="Freeform 7"/>
            <p:cNvSpPr/>
            <p:nvPr/>
          </p:nvSpPr>
          <p:spPr>
            <a:xfrm>
              <a:off x="0" y="0"/>
              <a:ext cx="8809803" cy="5372100"/>
            </a:xfrm>
            <a:custGeom>
              <a:avLst/>
              <a:gdLst/>
              <a:ahLst/>
              <a:cxnLst/>
              <a:rect l="l" t="t" r="r" b="b"/>
              <a:pathLst>
                <a:path w="8809803" h="537210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p:spPr>
          <p:txBody>
            <a:bodyPr/>
            <a:lstStyle/>
            <a:p>
              <a:endParaRPr lang="en-US" noProof="1"/>
            </a:p>
          </p:txBody>
        </p:sp>
      </p:grpSp>
      <p:sp>
        <p:nvSpPr>
          <p:cNvPr id="8" name="TextBox 8"/>
          <p:cNvSpPr txBox="1"/>
          <p:nvPr/>
        </p:nvSpPr>
        <p:spPr>
          <a:xfrm>
            <a:off x="5418969" y="7467301"/>
            <a:ext cx="7025638" cy="967104"/>
          </a:xfrm>
          <a:prstGeom prst="rect">
            <a:avLst/>
          </a:prstGeom>
        </p:spPr>
        <p:txBody>
          <a:bodyPr lIns="0" tIns="0" rIns="0" bIns="0" rtlCol="0" anchor="t">
            <a:spAutoFit/>
          </a:bodyPr>
          <a:lstStyle/>
          <a:p>
            <a:pPr marL="0" lvl="0" indent="0" algn="just">
              <a:lnSpc>
                <a:spcPts val="3920"/>
              </a:lnSpc>
              <a:spcBef>
                <a:spcPct val="0"/>
              </a:spcBef>
            </a:pPr>
            <a:r>
              <a:rPr lang="en-US" sz="2800" noProof="1">
                <a:solidFill>
                  <a:srgbClr val="000000"/>
                </a:solidFill>
                <a:latin typeface="Cabin"/>
                <a:ea typeface="Cabin"/>
                <a:cs typeface="Cabin"/>
                <a:sym typeface="Cabin"/>
              </a:rPr>
              <a:t>Giáo viên hướng dẫn : Th.S Phạm Trọng Huynh</a:t>
            </a:r>
          </a:p>
          <a:p>
            <a:pPr marL="0" lvl="0" indent="0" algn="just">
              <a:lnSpc>
                <a:spcPts val="3920"/>
              </a:lnSpc>
              <a:spcBef>
                <a:spcPct val="0"/>
              </a:spcBef>
            </a:pPr>
            <a:endParaRPr lang="en-US" sz="2800" noProof="1">
              <a:solidFill>
                <a:srgbClr val="000000"/>
              </a:solidFill>
              <a:latin typeface="Cabin"/>
              <a:ea typeface="Cabin"/>
              <a:cs typeface="Cabin"/>
              <a:sym typeface="Cabi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2629342" y="-259279"/>
            <a:ext cx="7945947" cy="3511798"/>
            <a:chOff x="0" y="0"/>
            <a:chExt cx="12155147" cy="5372100"/>
          </a:xfrm>
        </p:grpSpPr>
        <p:sp>
          <p:nvSpPr>
            <p:cNvPr id="3" name="Freeform 3"/>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en-US" noProof="1"/>
            </a:p>
          </p:txBody>
        </p:sp>
      </p:grpSp>
      <p:grpSp>
        <p:nvGrpSpPr>
          <p:cNvPr id="4" name="Group 4"/>
          <p:cNvGrpSpPr/>
          <p:nvPr/>
        </p:nvGrpSpPr>
        <p:grpSpPr>
          <a:xfrm>
            <a:off x="5209788" y="1750060"/>
            <a:ext cx="11951119" cy="1605054"/>
            <a:chOff x="0" y="0"/>
            <a:chExt cx="15934825" cy="2140073"/>
          </a:xfrm>
        </p:grpSpPr>
        <p:sp>
          <p:nvSpPr>
            <p:cNvPr id="5" name="TextBox 5"/>
            <p:cNvSpPr txBox="1"/>
            <p:nvPr/>
          </p:nvSpPr>
          <p:spPr>
            <a:xfrm>
              <a:off x="0" y="66675"/>
              <a:ext cx="15934825" cy="1194438"/>
            </a:xfrm>
            <a:prstGeom prst="rect">
              <a:avLst/>
            </a:prstGeom>
          </p:spPr>
          <p:txBody>
            <a:bodyPr lIns="0" tIns="0" rIns="0" bIns="0" rtlCol="0" anchor="t">
              <a:spAutoFit/>
            </a:bodyPr>
            <a:lstStyle/>
            <a:p>
              <a:pPr marL="0" lvl="0" indent="0" algn="l">
                <a:lnSpc>
                  <a:spcPts val="6847"/>
                </a:lnSpc>
                <a:spcBef>
                  <a:spcPct val="0"/>
                </a:spcBef>
              </a:pPr>
              <a:r>
                <a:rPr lang="en-US" sz="6225" b="1" u="none" noProof="1">
                  <a:solidFill>
                    <a:srgbClr val="1836B2"/>
                  </a:solidFill>
                  <a:latin typeface="Cabin Semi-Bold"/>
                  <a:ea typeface="Cabin Semi-Bold"/>
                  <a:cs typeface="Cabin Semi-Bold"/>
                  <a:sym typeface="Cabin Semi-Bold"/>
                </a:rPr>
                <a:t>Giới thiệu</a:t>
              </a:r>
            </a:p>
          </p:txBody>
        </p:sp>
        <p:sp>
          <p:nvSpPr>
            <p:cNvPr id="6" name="TextBox 6"/>
            <p:cNvSpPr txBox="1"/>
            <p:nvPr/>
          </p:nvSpPr>
          <p:spPr>
            <a:xfrm>
              <a:off x="2091232" y="1559260"/>
              <a:ext cx="13628319" cy="580813"/>
            </a:xfrm>
            <a:prstGeom prst="rect">
              <a:avLst/>
            </a:prstGeom>
          </p:spPr>
          <p:txBody>
            <a:bodyPr lIns="0" tIns="0" rIns="0" bIns="0" rtlCol="0" anchor="t">
              <a:spAutoFit/>
            </a:bodyPr>
            <a:lstStyle/>
            <a:p>
              <a:pPr marL="0" lvl="0" indent="0" algn="l">
                <a:lnSpc>
                  <a:spcPts val="3672"/>
                </a:lnSpc>
                <a:spcBef>
                  <a:spcPct val="0"/>
                </a:spcBef>
              </a:pPr>
              <a:endParaRPr lang="en-US" noProof="1"/>
            </a:p>
          </p:txBody>
        </p:sp>
      </p:grpSp>
      <p:sp>
        <p:nvSpPr>
          <p:cNvPr id="7" name="TextBox 7"/>
          <p:cNvSpPr txBox="1"/>
          <p:nvPr/>
        </p:nvSpPr>
        <p:spPr>
          <a:xfrm>
            <a:off x="5316604" y="3556092"/>
            <a:ext cx="10252969" cy="2357217"/>
          </a:xfrm>
          <a:prstGeom prst="rect">
            <a:avLst/>
          </a:prstGeom>
        </p:spPr>
        <p:txBody>
          <a:bodyPr lIns="0" tIns="0" rIns="0" bIns="0" rtlCol="0" anchor="t">
            <a:spAutoFit/>
          </a:bodyPr>
          <a:lstStyle/>
          <a:p>
            <a:pPr algn="l">
              <a:lnSpc>
                <a:spcPts val="4700"/>
              </a:lnSpc>
              <a:spcBef>
                <a:spcPct val="0"/>
              </a:spcBef>
            </a:pPr>
            <a:r>
              <a:rPr lang="en-US" sz="3357" noProof="1">
                <a:solidFill>
                  <a:srgbClr val="000000"/>
                </a:solidFill>
                <a:latin typeface="Cabin"/>
                <a:ea typeface="Cabin"/>
                <a:cs typeface="Cabin"/>
                <a:sym typeface="Cabin"/>
              </a:rPr>
              <a:t>State transition testing là một kỹ thuật kiểm thử hộp đen. Kỹ thuật này giúp bạn thiết kế test case dựa vào mô hình (model) hoặc lược đồ (diagram) mô tả các trạng thái (state) và chuyển đổi (transition) của chúng.</a:t>
            </a:r>
          </a:p>
        </p:txBody>
      </p:sp>
      <p:sp>
        <p:nvSpPr>
          <p:cNvPr id="8" name="TextBox 8"/>
          <p:cNvSpPr txBox="1"/>
          <p:nvPr/>
        </p:nvSpPr>
        <p:spPr>
          <a:xfrm>
            <a:off x="5316604" y="6356490"/>
            <a:ext cx="10083654" cy="1743614"/>
          </a:xfrm>
          <a:prstGeom prst="rect">
            <a:avLst/>
          </a:prstGeom>
        </p:spPr>
        <p:txBody>
          <a:bodyPr lIns="0" tIns="0" rIns="0" bIns="0" rtlCol="0" anchor="t">
            <a:spAutoFit/>
          </a:bodyPr>
          <a:lstStyle/>
          <a:p>
            <a:pPr algn="l">
              <a:lnSpc>
                <a:spcPts val="4695"/>
              </a:lnSpc>
              <a:spcBef>
                <a:spcPct val="0"/>
              </a:spcBef>
            </a:pPr>
            <a:r>
              <a:rPr lang="en-US" sz="3353" noProof="1">
                <a:solidFill>
                  <a:srgbClr val="000000"/>
                </a:solidFill>
                <a:latin typeface="Cabin"/>
                <a:ea typeface="Cabin"/>
                <a:cs typeface="Cabin"/>
                <a:sym typeface="Cabin"/>
              </a:rPr>
              <a:t>Kỹ thuật này giúp thiết kế các kịch bản kiểm thử (test case) dựa vào mô hình hoặc lược đồ mô tả các trạng thái và sự chuyển đổi giữa các trạng thái đó của hệ thống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589525"/>
            <a:ext cx="11577788" cy="1128395"/>
          </a:xfrm>
          <a:prstGeom prst="rect">
            <a:avLst/>
          </a:prstGeom>
        </p:spPr>
        <p:txBody>
          <a:bodyPr lIns="0" tIns="0" rIns="0" bIns="0" rtlCol="0" anchor="t">
            <a:spAutoFit/>
          </a:bodyPr>
          <a:lstStyle/>
          <a:p>
            <a:pPr marL="0" lvl="0" indent="0" algn="l">
              <a:lnSpc>
                <a:spcPts val="8635"/>
              </a:lnSpc>
              <a:spcBef>
                <a:spcPct val="0"/>
              </a:spcBef>
            </a:pPr>
            <a:r>
              <a:rPr lang="en-US" sz="7850" b="1" noProof="1">
                <a:solidFill>
                  <a:srgbClr val="1836B2"/>
                </a:solidFill>
                <a:latin typeface="Cabin Semi-Bold"/>
                <a:ea typeface="Cabin Semi-Bold"/>
                <a:cs typeface="Cabin Semi-Bold"/>
                <a:sym typeface="Cabin Semi-Bold"/>
              </a:rPr>
              <a:t>Sơ đồ Trạng</a:t>
            </a:r>
            <a:r>
              <a:rPr lang="en-US" sz="7850" b="1" u="none" noProof="1">
                <a:solidFill>
                  <a:srgbClr val="1836B2"/>
                </a:solidFill>
                <a:latin typeface="Cabin Semi-Bold"/>
                <a:ea typeface="Cabin Semi-Bold"/>
                <a:cs typeface="Cabin Semi-Bold"/>
                <a:sym typeface="Cabin Semi-Bold"/>
              </a:rPr>
              <a:t> thái Đơn hàng</a:t>
            </a:r>
          </a:p>
        </p:txBody>
      </p:sp>
      <p:sp>
        <p:nvSpPr>
          <p:cNvPr id="3" name="AutoShape 3"/>
          <p:cNvSpPr/>
          <p:nvPr/>
        </p:nvSpPr>
        <p:spPr>
          <a:xfrm>
            <a:off x="0" y="-446411"/>
            <a:ext cx="13497585" cy="791631"/>
          </a:xfrm>
          <a:prstGeom prst="rect">
            <a:avLst/>
          </a:prstGeom>
          <a:solidFill>
            <a:srgbClr val="1836B2"/>
          </a:solidFill>
        </p:spPr>
        <p:txBody>
          <a:bodyPr/>
          <a:lstStyle/>
          <a:p>
            <a:endParaRPr lang="en-US" noProof="1"/>
          </a:p>
        </p:txBody>
      </p:sp>
      <p:sp>
        <p:nvSpPr>
          <p:cNvPr id="4" name="Freeform 4"/>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noProof="1"/>
          </a:p>
        </p:txBody>
      </p:sp>
      <p:sp>
        <p:nvSpPr>
          <p:cNvPr id="5" name="TextBox 5"/>
          <p:cNvSpPr txBox="1"/>
          <p:nvPr/>
        </p:nvSpPr>
        <p:spPr>
          <a:xfrm>
            <a:off x="1028700" y="3573806"/>
            <a:ext cx="11986856" cy="3072713"/>
          </a:xfrm>
          <a:prstGeom prst="rect">
            <a:avLst/>
          </a:prstGeom>
        </p:spPr>
        <p:txBody>
          <a:bodyPr lIns="0" tIns="0" rIns="0" bIns="0" rtlCol="0" anchor="t">
            <a:spAutoFit/>
          </a:bodyPr>
          <a:lstStyle/>
          <a:p>
            <a:pPr algn="just">
              <a:lnSpc>
                <a:spcPts val="4937"/>
              </a:lnSpc>
              <a:spcBef>
                <a:spcPct val="0"/>
              </a:spcBef>
            </a:pPr>
            <a:r>
              <a:rPr lang="en-US" sz="3527" noProof="1">
                <a:solidFill>
                  <a:srgbClr val="000000"/>
                </a:solidFill>
                <a:latin typeface="Cabin"/>
                <a:ea typeface="Cabin"/>
                <a:cs typeface="Cabin"/>
                <a:sym typeface="Cabin"/>
              </a:rPr>
              <a:t>S0 (NEW): Đơn hàng vừa được tạo, khách chưa thanh toán.</a:t>
            </a:r>
          </a:p>
          <a:p>
            <a:pPr algn="just">
              <a:lnSpc>
                <a:spcPts val="4937"/>
              </a:lnSpc>
              <a:spcBef>
                <a:spcPct val="0"/>
              </a:spcBef>
            </a:pPr>
            <a:r>
              <a:rPr lang="en-US" sz="3527" noProof="1">
                <a:solidFill>
                  <a:srgbClr val="000000"/>
                </a:solidFill>
                <a:latin typeface="Cabin"/>
                <a:ea typeface="Cabin"/>
                <a:cs typeface="Cabin"/>
                <a:sym typeface="Cabin"/>
              </a:rPr>
              <a:t>S1 (PAID): Khách hàng thanh toán thành công.</a:t>
            </a:r>
          </a:p>
          <a:p>
            <a:pPr algn="just">
              <a:lnSpc>
                <a:spcPts val="4937"/>
              </a:lnSpc>
              <a:spcBef>
                <a:spcPct val="0"/>
              </a:spcBef>
            </a:pPr>
            <a:r>
              <a:rPr lang="en-US" sz="3527" noProof="1">
                <a:solidFill>
                  <a:srgbClr val="000000"/>
                </a:solidFill>
                <a:latin typeface="Cabin"/>
                <a:ea typeface="Cabin"/>
                <a:cs typeface="Cabin"/>
                <a:sym typeface="Cabin"/>
              </a:rPr>
              <a:t>S2 (SHIPPED): Đơn hàng đã được giao cho đơn vị vận chuyển.</a:t>
            </a:r>
          </a:p>
          <a:p>
            <a:pPr algn="just">
              <a:lnSpc>
                <a:spcPts val="4937"/>
              </a:lnSpc>
              <a:spcBef>
                <a:spcPct val="0"/>
              </a:spcBef>
            </a:pPr>
            <a:r>
              <a:rPr lang="en-US" sz="3527" noProof="1">
                <a:solidFill>
                  <a:srgbClr val="000000"/>
                </a:solidFill>
                <a:latin typeface="Cabin"/>
                <a:ea typeface="Cabin"/>
                <a:cs typeface="Cabin"/>
                <a:sym typeface="Cabin"/>
              </a:rPr>
              <a:t>S3 (DELIVERED): Đơn hàng đã được giao thành công cho khách.</a:t>
            </a:r>
          </a:p>
          <a:p>
            <a:pPr algn="just">
              <a:lnSpc>
                <a:spcPts val="4937"/>
              </a:lnSpc>
              <a:spcBef>
                <a:spcPct val="0"/>
              </a:spcBef>
            </a:pPr>
            <a:r>
              <a:rPr lang="en-US" sz="3527" noProof="1">
                <a:solidFill>
                  <a:srgbClr val="000000"/>
                </a:solidFill>
                <a:latin typeface="Cabin"/>
                <a:ea typeface="Cabin"/>
                <a:cs typeface="Cabin"/>
                <a:sym typeface="Cabin"/>
              </a:rPr>
              <a:t>S4 (RETURNED): Khách hàng yêu cầu trả lại hàng sau khi nhận.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9986435"/>
            <a:ext cx="16445731" cy="791631"/>
          </a:xfrm>
          <a:prstGeom prst="rect">
            <a:avLst/>
          </a:prstGeom>
          <a:solidFill>
            <a:srgbClr val="1836B2"/>
          </a:solidFill>
        </p:spPr>
        <p:txBody>
          <a:bodyPr/>
          <a:lstStyle/>
          <a:p>
            <a:endParaRPr lang="en-US" noProof="1"/>
          </a:p>
        </p:txBody>
      </p:sp>
      <p:grpSp>
        <p:nvGrpSpPr>
          <p:cNvPr id="3" name="Group 3"/>
          <p:cNvGrpSpPr/>
          <p:nvPr/>
        </p:nvGrpSpPr>
        <p:grpSpPr>
          <a:xfrm rot="-10800000">
            <a:off x="14141132" y="9258300"/>
            <a:ext cx="3194047" cy="4221147"/>
            <a:chOff x="0" y="0"/>
            <a:chExt cx="4064946" cy="5372100"/>
          </a:xfrm>
        </p:grpSpPr>
        <p:sp>
          <p:nvSpPr>
            <p:cNvPr id="4" name="Freeform 4"/>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en-US" noProof="1"/>
            </a:p>
          </p:txBody>
        </p:sp>
      </p:grpSp>
      <p:grpSp>
        <p:nvGrpSpPr>
          <p:cNvPr id="5" name="Group 5"/>
          <p:cNvGrpSpPr/>
          <p:nvPr/>
        </p:nvGrpSpPr>
        <p:grpSpPr>
          <a:xfrm rot="-10800000">
            <a:off x="15663004" y="9258300"/>
            <a:ext cx="3194047" cy="4221147"/>
            <a:chOff x="0" y="0"/>
            <a:chExt cx="4064946" cy="5372100"/>
          </a:xfrm>
        </p:grpSpPr>
        <p:sp>
          <p:nvSpPr>
            <p:cNvPr id="6" name="Freeform 6"/>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en-US" noProof="1"/>
            </a:p>
          </p:txBody>
        </p:sp>
      </p:grpSp>
      <p:sp>
        <p:nvSpPr>
          <p:cNvPr id="7" name="TextBox 7"/>
          <p:cNvSpPr txBox="1"/>
          <p:nvPr/>
        </p:nvSpPr>
        <p:spPr>
          <a:xfrm>
            <a:off x="533400" y="266700"/>
            <a:ext cx="10800343" cy="1138873"/>
          </a:xfrm>
          <a:prstGeom prst="rect">
            <a:avLst/>
          </a:prstGeom>
        </p:spPr>
        <p:txBody>
          <a:bodyPr lIns="0" tIns="0" rIns="0" bIns="0" rtlCol="0" anchor="t">
            <a:spAutoFit/>
          </a:bodyPr>
          <a:lstStyle/>
          <a:p>
            <a:pPr marL="0" lvl="0" indent="0" algn="l">
              <a:lnSpc>
                <a:spcPts val="8717"/>
              </a:lnSpc>
              <a:spcBef>
                <a:spcPct val="0"/>
              </a:spcBef>
            </a:pPr>
            <a:r>
              <a:rPr lang="en-US" sz="7925" b="1" noProof="1">
                <a:solidFill>
                  <a:srgbClr val="1836B2"/>
                </a:solidFill>
                <a:latin typeface="Cabin Semi-Bold"/>
                <a:ea typeface="Cabin Semi-Bold"/>
                <a:cs typeface="Cabin Semi-Bold"/>
                <a:sym typeface="Cabin Semi-Bold"/>
              </a:rPr>
              <a:t>Các</a:t>
            </a:r>
            <a:r>
              <a:rPr lang="en-US" sz="7925" b="1" u="none" noProof="1">
                <a:solidFill>
                  <a:srgbClr val="1836B2"/>
                </a:solidFill>
                <a:latin typeface="Cabin Semi-Bold"/>
                <a:ea typeface="Cabin Semi-Bold"/>
                <a:cs typeface="Cabin Semi-Bold"/>
                <a:sym typeface="Cabin Semi-Bold"/>
              </a:rPr>
              <a:t> Chuyển đổi Hợp lệ</a:t>
            </a:r>
          </a:p>
        </p:txBody>
      </p:sp>
      <p:sp>
        <p:nvSpPr>
          <p:cNvPr id="8" name="TextBox 8"/>
          <p:cNvSpPr txBox="1"/>
          <p:nvPr/>
        </p:nvSpPr>
        <p:spPr>
          <a:xfrm>
            <a:off x="533400" y="1405573"/>
            <a:ext cx="13112432" cy="2316019"/>
          </a:xfrm>
          <a:prstGeom prst="rect">
            <a:avLst/>
          </a:prstGeom>
        </p:spPr>
        <p:txBody>
          <a:bodyPr wrap="square" lIns="0" tIns="0" rIns="0" bIns="0" rtlCol="0" anchor="t">
            <a:spAutoFit/>
          </a:bodyPr>
          <a:lstStyle/>
          <a:p>
            <a:pPr algn="l">
              <a:lnSpc>
                <a:spcPts val="4640"/>
              </a:lnSpc>
            </a:pPr>
            <a:r>
              <a:rPr lang="en-US" sz="3314" noProof="1">
                <a:solidFill>
                  <a:srgbClr val="000000"/>
                </a:solidFill>
                <a:latin typeface="Cabin"/>
                <a:ea typeface="Cabin"/>
                <a:cs typeface="Cabin"/>
                <a:sym typeface="Cabin"/>
              </a:rPr>
              <a:t>T01 (S0 → S1): Khách hàng thanh toán đơn hàng thành công.</a:t>
            </a:r>
          </a:p>
          <a:p>
            <a:pPr algn="l">
              <a:lnSpc>
                <a:spcPts val="4640"/>
              </a:lnSpc>
            </a:pPr>
            <a:r>
              <a:rPr lang="en-US" sz="3314" noProof="1">
                <a:solidFill>
                  <a:srgbClr val="000000"/>
                </a:solidFill>
                <a:latin typeface="Cabin"/>
                <a:ea typeface="Cabin"/>
                <a:cs typeface="Cabin"/>
                <a:sym typeface="Cabin"/>
              </a:rPr>
              <a:t>T02 (S1 → S2): Cửa hàng bàn giao đơn hàng cho đơn vị vận chuyển.</a:t>
            </a:r>
          </a:p>
          <a:p>
            <a:pPr algn="l">
              <a:lnSpc>
                <a:spcPts val="4640"/>
              </a:lnSpc>
            </a:pPr>
            <a:r>
              <a:rPr lang="en-US" sz="3314" noProof="1">
                <a:solidFill>
                  <a:srgbClr val="000000"/>
                </a:solidFill>
                <a:latin typeface="Cabin"/>
                <a:ea typeface="Cabin"/>
                <a:cs typeface="Cabin"/>
                <a:sym typeface="Cabin"/>
              </a:rPr>
              <a:t>T03 (S2 → S3): Đơn vị vận chuyển giao hàng thành công đến tay khách.</a:t>
            </a:r>
          </a:p>
          <a:p>
            <a:pPr algn="l">
              <a:lnSpc>
                <a:spcPts val="4640"/>
              </a:lnSpc>
            </a:pPr>
            <a:r>
              <a:rPr lang="en-US" sz="3314" noProof="1">
                <a:solidFill>
                  <a:srgbClr val="000000"/>
                </a:solidFill>
                <a:latin typeface="Cabin"/>
                <a:ea typeface="Cabin"/>
                <a:cs typeface="Cabin"/>
                <a:sym typeface="Cabin"/>
              </a:rPr>
              <a:t>T04 (S3 → S4): Khách hàng có nhu cầu và yêu cầu trả hàng.</a:t>
            </a:r>
          </a:p>
        </p:txBody>
      </p:sp>
      <p:sp>
        <p:nvSpPr>
          <p:cNvPr id="9" name="TextBox 2"/>
          <p:cNvSpPr txBox="1"/>
          <p:nvPr/>
        </p:nvSpPr>
        <p:spPr>
          <a:xfrm>
            <a:off x="475343" y="4215745"/>
            <a:ext cx="12015599" cy="1013143"/>
          </a:xfrm>
          <a:prstGeom prst="rect">
            <a:avLst/>
          </a:prstGeom>
        </p:spPr>
        <p:txBody>
          <a:bodyPr lIns="0" tIns="0" rIns="0" bIns="0" rtlCol="0" anchor="t">
            <a:spAutoFit/>
          </a:bodyPr>
          <a:lstStyle/>
          <a:p>
            <a:pPr marL="0" lvl="0" indent="0" algn="l">
              <a:lnSpc>
                <a:spcPts val="7727"/>
              </a:lnSpc>
              <a:spcBef>
                <a:spcPct val="0"/>
              </a:spcBef>
            </a:pPr>
            <a:r>
              <a:rPr lang="en-US" sz="7025" b="1" noProof="1">
                <a:solidFill>
                  <a:srgbClr val="1836B2"/>
                </a:solidFill>
                <a:latin typeface="Cabin Semi-Bold"/>
                <a:ea typeface="Cabin Semi-Bold"/>
                <a:cs typeface="Cabin Semi-Bold"/>
                <a:sym typeface="Cabin Semi-Bold"/>
              </a:rPr>
              <a:t>Các</a:t>
            </a:r>
            <a:r>
              <a:rPr lang="en-US" sz="7025" b="1" u="none" noProof="1">
                <a:solidFill>
                  <a:srgbClr val="1836B2"/>
                </a:solidFill>
                <a:latin typeface="Cabin Semi-Bold"/>
                <a:ea typeface="Cabin Semi-Bold"/>
                <a:cs typeface="Cabin Semi-Bold"/>
                <a:sym typeface="Cabin Semi-Bold"/>
              </a:rPr>
              <a:t> Chuyển đổi Không Hợp lệ</a:t>
            </a:r>
          </a:p>
        </p:txBody>
      </p:sp>
      <p:sp>
        <p:nvSpPr>
          <p:cNvPr id="10" name="TextBox 3"/>
          <p:cNvSpPr txBox="1"/>
          <p:nvPr/>
        </p:nvSpPr>
        <p:spPr>
          <a:xfrm>
            <a:off x="508000" y="5564683"/>
            <a:ext cx="17706631" cy="3648499"/>
          </a:xfrm>
          <a:prstGeom prst="rect">
            <a:avLst/>
          </a:prstGeom>
        </p:spPr>
        <p:txBody>
          <a:bodyPr lIns="0" tIns="0" rIns="0" bIns="0" rtlCol="0" anchor="t">
            <a:spAutoFit/>
          </a:bodyPr>
          <a:lstStyle/>
          <a:p>
            <a:pPr algn="l">
              <a:lnSpc>
                <a:spcPts val="4820"/>
              </a:lnSpc>
            </a:pPr>
            <a:r>
              <a:rPr lang="en-US" sz="3443" noProof="1">
                <a:solidFill>
                  <a:srgbClr val="000000"/>
                </a:solidFill>
                <a:latin typeface="Cabin"/>
                <a:ea typeface="Cabin"/>
                <a:cs typeface="Cabin"/>
                <a:sym typeface="Cabin"/>
              </a:rPr>
              <a:t>Lỗi quy trình: Giao hàng khi khách chưa thanh toán (S0 → S2) hoặc giao hàng trực tiếp bỏ qua bước vận chuyển (S1 → S3).</a:t>
            </a:r>
          </a:p>
          <a:p>
            <a:pPr algn="l">
              <a:lnSpc>
                <a:spcPts val="4820"/>
              </a:lnSpc>
            </a:pPr>
            <a:r>
              <a:rPr lang="en-US" sz="3443" noProof="1">
                <a:solidFill>
                  <a:srgbClr val="000000"/>
                </a:solidFill>
                <a:latin typeface="Cabin"/>
                <a:ea typeface="Cabin"/>
                <a:cs typeface="Cabin"/>
                <a:sym typeface="Cabin"/>
              </a:rPr>
              <a:t>Lỗi thanh toán: Thanh toán lại khi đơn đang giao (S2 → S1) hoặc thanh toán lại sau khi đã nhận hàng (S3 → S1).</a:t>
            </a:r>
          </a:p>
          <a:p>
            <a:pPr algn="l">
              <a:lnSpc>
                <a:spcPts val="4820"/>
              </a:lnSpc>
            </a:pPr>
            <a:r>
              <a:rPr lang="en-US" sz="3443" noProof="1">
                <a:solidFill>
                  <a:srgbClr val="000000"/>
                </a:solidFill>
                <a:latin typeface="Cabin"/>
                <a:ea typeface="Cabin"/>
                <a:cs typeface="Cabin"/>
                <a:sym typeface="Cabin"/>
              </a:rPr>
              <a:t>Lỗi hoàn trả: Cố tình giao lại hàng sau khi khách đã trả (S4 → S2).</a:t>
            </a:r>
          </a:p>
          <a:p>
            <a:pPr algn="l">
              <a:lnSpc>
                <a:spcPts val="4820"/>
              </a:lnSpc>
            </a:pPr>
            <a:endParaRPr lang="en-US" sz="3443" noProof="1">
              <a:solidFill>
                <a:srgbClr val="000000"/>
              </a:solidFill>
              <a:latin typeface="Cabin"/>
              <a:ea typeface="Cabin"/>
              <a:cs typeface="Cabin"/>
              <a:sym typeface="Cabi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86795" y="1169961"/>
            <a:ext cx="9468619" cy="2581032"/>
          </a:xfrm>
          <a:custGeom>
            <a:avLst/>
            <a:gdLst/>
            <a:ahLst/>
            <a:cxnLst/>
            <a:rect l="l" t="t" r="r" b="b"/>
            <a:pathLst>
              <a:path w="9468619" h="2581032">
                <a:moveTo>
                  <a:pt x="0" y="0"/>
                </a:moveTo>
                <a:lnTo>
                  <a:pt x="9468619" y="0"/>
                </a:lnTo>
                <a:lnTo>
                  <a:pt x="9468619" y="2581033"/>
                </a:lnTo>
                <a:lnTo>
                  <a:pt x="0" y="2581033"/>
                </a:lnTo>
                <a:lnTo>
                  <a:pt x="0" y="0"/>
                </a:lnTo>
                <a:close/>
              </a:path>
            </a:pathLst>
          </a:custGeom>
          <a:blipFill>
            <a:blip r:embed="rId2"/>
            <a:stretch>
              <a:fillRect/>
            </a:stretch>
          </a:blipFill>
        </p:spPr>
        <p:txBody>
          <a:bodyPr/>
          <a:lstStyle/>
          <a:p>
            <a:endParaRPr lang="en-US" noProof="1"/>
          </a:p>
        </p:txBody>
      </p:sp>
      <p:sp>
        <p:nvSpPr>
          <p:cNvPr id="3" name="Freeform 3"/>
          <p:cNvSpPr/>
          <p:nvPr/>
        </p:nvSpPr>
        <p:spPr>
          <a:xfrm>
            <a:off x="4986794" y="3619500"/>
            <a:ext cx="9468619" cy="6166965"/>
          </a:xfrm>
          <a:custGeom>
            <a:avLst/>
            <a:gdLst/>
            <a:ahLst/>
            <a:cxnLst/>
            <a:rect l="l" t="t" r="r" b="b"/>
            <a:pathLst>
              <a:path w="9468619" h="6166965">
                <a:moveTo>
                  <a:pt x="0" y="0"/>
                </a:moveTo>
                <a:lnTo>
                  <a:pt x="9468619" y="0"/>
                </a:lnTo>
                <a:lnTo>
                  <a:pt x="9468619" y="6166965"/>
                </a:lnTo>
                <a:lnTo>
                  <a:pt x="0" y="6166965"/>
                </a:lnTo>
                <a:lnTo>
                  <a:pt x="0" y="0"/>
                </a:lnTo>
                <a:close/>
              </a:path>
            </a:pathLst>
          </a:custGeom>
          <a:blipFill>
            <a:blip r:embed="rId3"/>
            <a:stretch>
              <a:fillRect/>
            </a:stretch>
          </a:blipFill>
        </p:spPr>
        <p:txBody>
          <a:bodyPr/>
          <a:lstStyle/>
          <a:p>
            <a:endParaRPr lang="en-US" noProof="1"/>
          </a:p>
        </p:txBody>
      </p:sp>
      <p:sp>
        <p:nvSpPr>
          <p:cNvPr id="4" name="TextBox 4"/>
          <p:cNvSpPr txBox="1"/>
          <p:nvPr/>
        </p:nvSpPr>
        <p:spPr>
          <a:xfrm>
            <a:off x="189263" y="97472"/>
            <a:ext cx="10666597"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Bảng Ch</a:t>
            </a:r>
            <a:r>
              <a:rPr lang="en-US" sz="6575" b="1" u="none" noProof="1">
                <a:solidFill>
                  <a:srgbClr val="1836B2"/>
                </a:solidFill>
                <a:latin typeface="Cabin Semi-Bold"/>
                <a:ea typeface="Cabin Semi-Bold"/>
                <a:cs typeface="Cabin Semi-Bold"/>
                <a:sym typeface="Cabin Semi-Bold"/>
              </a:rPr>
              <a:t>uyển Trạng thái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682" y="1211592"/>
            <a:ext cx="10490552" cy="3804051"/>
          </a:xfrm>
          <a:custGeom>
            <a:avLst/>
            <a:gdLst/>
            <a:ahLst/>
            <a:cxnLst/>
            <a:rect l="l" t="t" r="r" b="b"/>
            <a:pathLst>
              <a:path w="10490552" h="3804051">
                <a:moveTo>
                  <a:pt x="0" y="0"/>
                </a:moveTo>
                <a:lnTo>
                  <a:pt x="10490553" y="0"/>
                </a:lnTo>
                <a:lnTo>
                  <a:pt x="10490553" y="3804051"/>
                </a:lnTo>
                <a:lnTo>
                  <a:pt x="0" y="3804051"/>
                </a:lnTo>
                <a:lnTo>
                  <a:pt x="0" y="0"/>
                </a:lnTo>
                <a:close/>
              </a:path>
            </a:pathLst>
          </a:custGeom>
          <a:blipFill>
            <a:blip r:embed="rId2"/>
            <a:stretch>
              <a:fillRect/>
            </a:stretch>
          </a:blipFill>
        </p:spPr>
        <p:txBody>
          <a:bodyPr/>
          <a:lstStyle/>
          <a:p>
            <a:endParaRPr lang="en-US" noProof="1"/>
          </a:p>
        </p:txBody>
      </p:sp>
      <p:sp>
        <p:nvSpPr>
          <p:cNvPr id="3" name="Freeform 3"/>
          <p:cNvSpPr/>
          <p:nvPr/>
        </p:nvSpPr>
        <p:spPr>
          <a:xfrm>
            <a:off x="443314" y="5196618"/>
            <a:ext cx="10387921" cy="3782663"/>
          </a:xfrm>
          <a:custGeom>
            <a:avLst/>
            <a:gdLst/>
            <a:ahLst/>
            <a:cxnLst/>
            <a:rect l="l" t="t" r="r" b="b"/>
            <a:pathLst>
              <a:path w="10387921" h="3782663">
                <a:moveTo>
                  <a:pt x="0" y="0"/>
                </a:moveTo>
                <a:lnTo>
                  <a:pt x="10387921" y="0"/>
                </a:lnTo>
                <a:lnTo>
                  <a:pt x="10387921" y="3782662"/>
                </a:lnTo>
                <a:lnTo>
                  <a:pt x="0" y="3782662"/>
                </a:lnTo>
                <a:lnTo>
                  <a:pt x="0" y="0"/>
                </a:lnTo>
                <a:close/>
              </a:path>
            </a:pathLst>
          </a:custGeom>
          <a:blipFill>
            <a:blip r:embed="rId3"/>
            <a:stretch>
              <a:fillRect/>
            </a:stretch>
          </a:blipFill>
          <a:ln>
            <a:solidFill>
              <a:schemeClr val="tx1"/>
            </a:solidFill>
          </a:ln>
        </p:spPr>
        <p:txBody>
          <a:bodyPr/>
          <a:lstStyle/>
          <a:p>
            <a:endParaRPr lang="en-US" noProof="1"/>
          </a:p>
        </p:txBody>
      </p:sp>
      <p:sp>
        <p:nvSpPr>
          <p:cNvPr id="4" name="TextBox 4"/>
          <p:cNvSpPr txBox="1"/>
          <p:nvPr/>
        </p:nvSpPr>
        <p:spPr>
          <a:xfrm>
            <a:off x="189263" y="97472"/>
            <a:ext cx="12235022"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Áp dụng vào Thiết kế</a:t>
            </a:r>
            <a:r>
              <a:rPr lang="en-US" sz="6575" b="1" u="none" noProof="1">
                <a:solidFill>
                  <a:srgbClr val="1836B2"/>
                </a:solidFill>
                <a:latin typeface="Cabin Semi-Bold"/>
                <a:ea typeface="Cabin Semi-Bold"/>
                <a:cs typeface="Cabin Semi-Bold"/>
                <a:sym typeface="Cabin Semi-Bold"/>
              </a:rPr>
              <a:t> Test Case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9263" y="1350258"/>
            <a:ext cx="10407587" cy="3793242"/>
          </a:xfrm>
          <a:custGeom>
            <a:avLst/>
            <a:gdLst/>
            <a:ahLst/>
            <a:cxnLst/>
            <a:rect l="l" t="t" r="r" b="b"/>
            <a:pathLst>
              <a:path w="10407587" h="3793242">
                <a:moveTo>
                  <a:pt x="0" y="0"/>
                </a:moveTo>
                <a:lnTo>
                  <a:pt x="10407587" y="0"/>
                </a:lnTo>
                <a:lnTo>
                  <a:pt x="10407587" y="3793242"/>
                </a:lnTo>
                <a:lnTo>
                  <a:pt x="0" y="3793242"/>
                </a:lnTo>
                <a:lnTo>
                  <a:pt x="0" y="0"/>
                </a:lnTo>
                <a:close/>
              </a:path>
            </a:pathLst>
          </a:custGeom>
          <a:blipFill>
            <a:blip r:embed="rId2"/>
            <a:stretch>
              <a:fillRect/>
            </a:stretch>
          </a:blipFill>
        </p:spPr>
        <p:txBody>
          <a:bodyPr/>
          <a:lstStyle/>
          <a:p>
            <a:endParaRPr lang="en-US" noProof="1"/>
          </a:p>
        </p:txBody>
      </p:sp>
      <p:sp>
        <p:nvSpPr>
          <p:cNvPr id="3" name="Freeform 3"/>
          <p:cNvSpPr/>
          <p:nvPr/>
        </p:nvSpPr>
        <p:spPr>
          <a:xfrm>
            <a:off x="189263" y="5467350"/>
            <a:ext cx="10427166" cy="3784815"/>
          </a:xfrm>
          <a:custGeom>
            <a:avLst/>
            <a:gdLst/>
            <a:ahLst/>
            <a:cxnLst/>
            <a:rect l="l" t="t" r="r" b="b"/>
            <a:pathLst>
              <a:path w="10427166" h="3784815">
                <a:moveTo>
                  <a:pt x="0" y="0"/>
                </a:moveTo>
                <a:lnTo>
                  <a:pt x="10427166" y="0"/>
                </a:lnTo>
                <a:lnTo>
                  <a:pt x="10427166" y="3784815"/>
                </a:lnTo>
                <a:lnTo>
                  <a:pt x="0" y="3784815"/>
                </a:lnTo>
                <a:lnTo>
                  <a:pt x="0" y="0"/>
                </a:lnTo>
                <a:close/>
              </a:path>
            </a:pathLst>
          </a:custGeom>
          <a:blipFill>
            <a:blip r:embed="rId3"/>
            <a:stretch>
              <a:fillRect/>
            </a:stretch>
          </a:blipFill>
        </p:spPr>
        <p:txBody>
          <a:bodyPr/>
          <a:lstStyle/>
          <a:p>
            <a:endParaRPr lang="en-US" noProof="1"/>
          </a:p>
        </p:txBody>
      </p:sp>
      <p:sp>
        <p:nvSpPr>
          <p:cNvPr id="4" name="TextBox 4"/>
          <p:cNvSpPr txBox="1"/>
          <p:nvPr/>
        </p:nvSpPr>
        <p:spPr>
          <a:xfrm>
            <a:off x="189263" y="97472"/>
            <a:ext cx="12235022"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Áp dụng vào Thiết kế</a:t>
            </a:r>
            <a:r>
              <a:rPr lang="en-US" sz="6575" b="1" u="none" noProof="1">
                <a:solidFill>
                  <a:srgbClr val="1836B2"/>
                </a:solidFill>
                <a:latin typeface="Cabin Semi-Bold"/>
                <a:ea typeface="Cabin Semi-Bold"/>
                <a:cs typeface="Cabin Semi-Bold"/>
                <a:sym typeface="Cabin Semi-Bold"/>
              </a:rPr>
              <a:t> Test Case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9263" y="1532001"/>
            <a:ext cx="10415429" cy="3763239"/>
          </a:xfrm>
          <a:custGeom>
            <a:avLst/>
            <a:gdLst/>
            <a:ahLst/>
            <a:cxnLst/>
            <a:rect l="l" t="t" r="r" b="b"/>
            <a:pathLst>
              <a:path w="10415429" h="3763239">
                <a:moveTo>
                  <a:pt x="0" y="0"/>
                </a:moveTo>
                <a:lnTo>
                  <a:pt x="10415429" y="0"/>
                </a:lnTo>
                <a:lnTo>
                  <a:pt x="10415429" y="3763239"/>
                </a:lnTo>
                <a:lnTo>
                  <a:pt x="0" y="3763239"/>
                </a:lnTo>
                <a:lnTo>
                  <a:pt x="0" y="0"/>
                </a:lnTo>
                <a:close/>
              </a:path>
            </a:pathLst>
          </a:custGeom>
          <a:blipFill>
            <a:blip r:embed="rId2"/>
            <a:stretch>
              <a:fillRect/>
            </a:stretch>
          </a:blipFill>
        </p:spPr>
        <p:txBody>
          <a:bodyPr/>
          <a:lstStyle/>
          <a:p>
            <a:endParaRPr lang="en-US" noProof="1"/>
          </a:p>
        </p:txBody>
      </p:sp>
      <p:sp>
        <p:nvSpPr>
          <p:cNvPr id="3" name="Freeform 3"/>
          <p:cNvSpPr/>
          <p:nvPr/>
        </p:nvSpPr>
        <p:spPr>
          <a:xfrm>
            <a:off x="189263" y="5460029"/>
            <a:ext cx="10431072" cy="3798271"/>
          </a:xfrm>
          <a:custGeom>
            <a:avLst/>
            <a:gdLst/>
            <a:ahLst/>
            <a:cxnLst/>
            <a:rect l="l" t="t" r="r" b="b"/>
            <a:pathLst>
              <a:path w="10431072" h="3798271">
                <a:moveTo>
                  <a:pt x="0" y="0"/>
                </a:moveTo>
                <a:lnTo>
                  <a:pt x="10431071" y="0"/>
                </a:lnTo>
                <a:lnTo>
                  <a:pt x="10431071" y="3798271"/>
                </a:lnTo>
                <a:lnTo>
                  <a:pt x="0" y="3798271"/>
                </a:lnTo>
                <a:lnTo>
                  <a:pt x="0" y="0"/>
                </a:lnTo>
                <a:close/>
              </a:path>
            </a:pathLst>
          </a:custGeom>
          <a:blipFill>
            <a:blip r:embed="rId3"/>
            <a:stretch>
              <a:fillRect/>
            </a:stretch>
          </a:blipFill>
        </p:spPr>
        <p:txBody>
          <a:bodyPr/>
          <a:lstStyle/>
          <a:p>
            <a:endParaRPr lang="en-US" noProof="1"/>
          </a:p>
        </p:txBody>
      </p:sp>
      <p:sp>
        <p:nvSpPr>
          <p:cNvPr id="4" name="TextBox 4"/>
          <p:cNvSpPr txBox="1"/>
          <p:nvPr/>
        </p:nvSpPr>
        <p:spPr>
          <a:xfrm>
            <a:off x="189263" y="97472"/>
            <a:ext cx="12235022"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Áp dụng vào Thiết kế</a:t>
            </a:r>
            <a:r>
              <a:rPr lang="en-US" sz="6575" b="1" u="none" noProof="1">
                <a:solidFill>
                  <a:srgbClr val="1836B2"/>
                </a:solidFill>
                <a:latin typeface="Cabin Semi-Bold"/>
                <a:ea typeface="Cabin Semi-Bold"/>
                <a:cs typeface="Cabin Semi-Bold"/>
                <a:sym typeface="Cabin Semi-Bold"/>
              </a:rPr>
              <a:t> Test Case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1201" y="1808782"/>
            <a:ext cx="10415429" cy="3763239"/>
          </a:xfrm>
          <a:custGeom>
            <a:avLst/>
            <a:gdLst/>
            <a:ahLst/>
            <a:cxnLst/>
            <a:rect l="l" t="t" r="r" b="b"/>
            <a:pathLst>
              <a:path w="10415429" h="3763239">
                <a:moveTo>
                  <a:pt x="0" y="0"/>
                </a:moveTo>
                <a:lnTo>
                  <a:pt x="10415429" y="0"/>
                </a:lnTo>
                <a:lnTo>
                  <a:pt x="10415429" y="3763239"/>
                </a:lnTo>
                <a:lnTo>
                  <a:pt x="0" y="3763239"/>
                </a:lnTo>
                <a:lnTo>
                  <a:pt x="0" y="0"/>
                </a:lnTo>
                <a:close/>
              </a:path>
            </a:pathLst>
          </a:custGeom>
          <a:blipFill>
            <a:blip r:embed="rId2"/>
            <a:stretch>
              <a:fillRect/>
            </a:stretch>
          </a:blipFill>
        </p:spPr>
        <p:txBody>
          <a:bodyPr/>
          <a:lstStyle/>
          <a:p>
            <a:endParaRPr lang="en-US" noProof="1"/>
          </a:p>
        </p:txBody>
      </p:sp>
      <p:sp>
        <p:nvSpPr>
          <p:cNvPr id="3" name="Freeform 3"/>
          <p:cNvSpPr/>
          <p:nvPr/>
        </p:nvSpPr>
        <p:spPr>
          <a:xfrm>
            <a:off x="361201" y="5823671"/>
            <a:ext cx="10438872" cy="3806231"/>
          </a:xfrm>
          <a:custGeom>
            <a:avLst/>
            <a:gdLst/>
            <a:ahLst/>
            <a:cxnLst/>
            <a:rect l="l" t="t" r="r" b="b"/>
            <a:pathLst>
              <a:path w="10438872" h="3806231">
                <a:moveTo>
                  <a:pt x="0" y="0"/>
                </a:moveTo>
                <a:lnTo>
                  <a:pt x="10438872" y="0"/>
                </a:lnTo>
                <a:lnTo>
                  <a:pt x="10438872" y="3806232"/>
                </a:lnTo>
                <a:lnTo>
                  <a:pt x="0" y="3806232"/>
                </a:lnTo>
                <a:lnTo>
                  <a:pt x="0" y="0"/>
                </a:lnTo>
                <a:close/>
              </a:path>
            </a:pathLst>
          </a:custGeom>
          <a:blipFill>
            <a:blip r:embed="rId3"/>
            <a:stretch>
              <a:fillRect/>
            </a:stretch>
          </a:blipFill>
        </p:spPr>
        <p:txBody>
          <a:bodyPr/>
          <a:lstStyle/>
          <a:p>
            <a:endParaRPr lang="en-US" noProof="1"/>
          </a:p>
        </p:txBody>
      </p:sp>
      <p:sp>
        <p:nvSpPr>
          <p:cNvPr id="4" name="TextBox 4"/>
          <p:cNvSpPr txBox="1"/>
          <p:nvPr/>
        </p:nvSpPr>
        <p:spPr>
          <a:xfrm>
            <a:off x="189263" y="97472"/>
            <a:ext cx="12235022"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Áp dụng vào Thiết kế</a:t>
            </a:r>
            <a:r>
              <a:rPr lang="en-US" sz="6575" b="1" u="none" noProof="1">
                <a:solidFill>
                  <a:srgbClr val="1836B2"/>
                </a:solidFill>
                <a:latin typeface="Cabin Semi-Bold"/>
                <a:ea typeface="Cabin Semi-Bold"/>
                <a:cs typeface="Cabin Semi-Bold"/>
                <a:sym typeface="Cabin Semi-Bold"/>
              </a:rPr>
              <a:t> Test Case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9263" y="1596077"/>
            <a:ext cx="10442767" cy="3819607"/>
          </a:xfrm>
          <a:custGeom>
            <a:avLst/>
            <a:gdLst/>
            <a:ahLst/>
            <a:cxnLst/>
            <a:rect l="l" t="t" r="r" b="b"/>
            <a:pathLst>
              <a:path w="10442767" h="3819607">
                <a:moveTo>
                  <a:pt x="0" y="0"/>
                </a:moveTo>
                <a:lnTo>
                  <a:pt x="10442767" y="0"/>
                </a:lnTo>
                <a:lnTo>
                  <a:pt x="10442767" y="3819607"/>
                </a:lnTo>
                <a:lnTo>
                  <a:pt x="0" y="3819607"/>
                </a:lnTo>
                <a:lnTo>
                  <a:pt x="0" y="0"/>
                </a:lnTo>
                <a:close/>
              </a:path>
            </a:pathLst>
          </a:custGeom>
          <a:blipFill>
            <a:blip r:embed="rId2"/>
            <a:stretch>
              <a:fillRect/>
            </a:stretch>
          </a:blipFill>
        </p:spPr>
        <p:txBody>
          <a:bodyPr/>
          <a:lstStyle/>
          <a:p>
            <a:endParaRPr lang="en-US" noProof="1"/>
          </a:p>
        </p:txBody>
      </p:sp>
      <p:sp>
        <p:nvSpPr>
          <p:cNvPr id="3" name="Freeform 3"/>
          <p:cNvSpPr/>
          <p:nvPr/>
        </p:nvSpPr>
        <p:spPr>
          <a:xfrm>
            <a:off x="193158" y="5680082"/>
            <a:ext cx="10438872" cy="3862760"/>
          </a:xfrm>
          <a:custGeom>
            <a:avLst/>
            <a:gdLst/>
            <a:ahLst/>
            <a:cxnLst/>
            <a:rect l="l" t="t" r="r" b="b"/>
            <a:pathLst>
              <a:path w="10438872" h="3862760">
                <a:moveTo>
                  <a:pt x="0" y="0"/>
                </a:moveTo>
                <a:lnTo>
                  <a:pt x="10438872" y="0"/>
                </a:lnTo>
                <a:lnTo>
                  <a:pt x="10438872" y="3862759"/>
                </a:lnTo>
                <a:lnTo>
                  <a:pt x="0" y="3862759"/>
                </a:lnTo>
                <a:lnTo>
                  <a:pt x="0" y="0"/>
                </a:lnTo>
                <a:close/>
              </a:path>
            </a:pathLst>
          </a:custGeom>
          <a:blipFill>
            <a:blip r:embed="rId3"/>
            <a:stretch>
              <a:fillRect/>
            </a:stretch>
          </a:blipFill>
        </p:spPr>
        <p:txBody>
          <a:bodyPr/>
          <a:lstStyle/>
          <a:p>
            <a:endParaRPr lang="en-US" noProof="1"/>
          </a:p>
        </p:txBody>
      </p:sp>
      <p:sp>
        <p:nvSpPr>
          <p:cNvPr id="4" name="TextBox 4"/>
          <p:cNvSpPr txBox="1"/>
          <p:nvPr/>
        </p:nvSpPr>
        <p:spPr>
          <a:xfrm>
            <a:off x="189263" y="97472"/>
            <a:ext cx="12235022"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Áp dụng vào Thiết kế</a:t>
            </a:r>
            <a:r>
              <a:rPr lang="en-US" sz="6575" b="1" u="none" noProof="1">
                <a:solidFill>
                  <a:srgbClr val="1836B2"/>
                </a:solidFill>
                <a:latin typeface="Cabin Semi-Bold"/>
                <a:ea typeface="Cabin Semi-Bold"/>
                <a:cs typeface="Cabin Semi-Bold"/>
                <a:sym typeface="Cabin Semi-Bold"/>
              </a:rPr>
              <a:t> Test Case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9263" y="97472"/>
            <a:ext cx="12235022" cy="931228"/>
          </a:xfrm>
          <a:prstGeom prst="rect">
            <a:avLst/>
          </a:prstGeom>
        </p:spPr>
        <p:txBody>
          <a:bodyPr lIns="0" tIns="0" rIns="0" bIns="0" rtlCol="0" anchor="t">
            <a:spAutoFit/>
          </a:bodyPr>
          <a:lstStyle/>
          <a:p>
            <a:pPr marL="0" lvl="0" indent="0" algn="l">
              <a:lnSpc>
                <a:spcPts val="7232"/>
              </a:lnSpc>
              <a:spcBef>
                <a:spcPct val="0"/>
              </a:spcBef>
            </a:pPr>
            <a:r>
              <a:rPr lang="en-US" sz="6575" b="1" noProof="1">
                <a:solidFill>
                  <a:srgbClr val="1836B2"/>
                </a:solidFill>
                <a:latin typeface="Cabin Semi-Bold"/>
                <a:ea typeface="Cabin Semi-Bold"/>
                <a:cs typeface="Cabin Semi-Bold"/>
                <a:sym typeface="Cabin Semi-Bold"/>
              </a:rPr>
              <a:t>Kế</a:t>
            </a:r>
            <a:r>
              <a:rPr lang="en-US" sz="6575" b="1" u="none" noProof="1">
                <a:solidFill>
                  <a:srgbClr val="1836B2"/>
                </a:solidFill>
                <a:latin typeface="Cabin Semi-Bold"/>
                <a:ea typeface="Cabin Semi-Bold"/>
                <a:cs typeface="Cabin Semi-Bold"/>
                <a:sym typeface="Cabin Semi-Bold"/>
              </a:rPr>
              <a:t>t luận</a:t>
            </a:r>
          </a:p>
        </p:txBody>
      </p:sp>
      <p:sp>
        <p:nvSpPr>
          <p:cNvPr id="3" name="TextBox 3"/>
          <p:cNvSpPr txBox="1"/>
          <p:nvPr/>
        </p:nvSpPr>
        <p:spPr>
          <a:xfrm>
            <a:off x="838979" y="1567543"/>
            <a:ext cx="12761613" cy="887856"/>
          </a:xfrm>
          <a:prstGeom prst="rect">
            <a:avLst/>
          </a:prstGeom>
        </p:spPr>
        <p:txBody>
          <a:bodyPr lIns="0" tIns="0" rIns="0" bIns="0" rtlCol="0" anchor="t">
            <a:spAutoFit/>
          </a:bodyPr>
          <a:lstStyle/>
          <a:p>
            <a:pPr algn="l">
              <a:lnSpc>
                <a:spcPts val="3475"/>
              </a:lnSpc>
              <a:spcBef>
                <a:spcPct val="0"/>
              </a:spcBef>
            </a:pPr>
            <a:r>
              <a:rPr lang="en-US" sz="3159" b="1" noProof="1">
                <a:solidFill>
                  <a:srgbClr val="000000"/>
                </a:solidFill>
                <a:latin typeface="Cabin Semi-Bold"/>
                <a:ea typeface="Cabin Semi-Bold"/>
                <a:cs typeface="Cabin Semi-Bold"/>
                <a:sym typeface="Cabin Semi-Bold"/>
              </a:rPr>
              <a:t>Kỹ thuật State Transition Testing đặc biệt hiệu quả cho các hệ thống quản lý luồng công việc (workflow) như vòng đời đơn hàng.</a:t>
            </a:r>
          </a:p>
        </p:txBody>
      </p:sp>
      <p:sp>
        <p:nvSpPr>
          <p:cNvPr id="4" name="TextBox 4"/>
          <p:cNvSpPr txBox="1"/>
          <p:nvPr/>
        </p:nvSpPr>
        <p:spPr>
          <a:xfrm>
            <a:off x="838979" y="3016487"/>
            <a:ext cx="12761613" cy="887856"/>
          </a:xfrm>
          <a:prstGeom prst="rect">
            <a:avLst/>
          </a:prstGeom>
        </p:spPr>
        <p:txBody>
          <a:bodyPr lIns="0" tIns="0" rIns="0" bIns="0" rtlCol="0" anchor="t">
            <a:spAutoFit/>
          </a:bodyPr>
          <a:lstStyle/>
          <a:p>
            <a:pPr algn="l">
              <a:lnSpc>
                <a:spcPts val="3475"/>
              </a:lnSpc>
              <a:spcBef>
                <a:spcPct val="0"/>
              </a:spcBef>
            </a:pPr>
            <a:r>
              <a:rPr lang="en-US" sz="3159" b="1" noProof="1">
                <a:solidFill>
                  <a:srgbClr val="000000"/>
                </a:solidFill>
                <a:latin typeface="Cabin Semi-Bold"/>
                <a:ea typeface="Cabin Semi-Bold"/>
                <a:cs typeface="Cabin Semi-Bold"/>
                <a:sym typeface="Cabin Semi-Bold"/>
              </a:rPr>
              <a:t>Giúp đội ngũ phát hiện sớm các lỗ hổng logic nghiệp vụ (ví dụ: khách chưa trả tiền nhưng hệ thống vẫn cho phép giao hàng).</a:t>
            </a:r>
          </a:p>
        </p:txBody>
      </p:sp>
      <p:sp>
        <p:nvSpPr>
          <p:cNvPr id="5" name="TextBox 5"/>
          <p:cNvSpPr txBox="1"/>
          <p:nvPr/>
        </p:nvSpPr>
        <p:spPr>
          <a:xfrm>
            <a:off x="838979" y="4465432"/>
            <a:ext cx="12761613" cy="887856"/>
          </a:xfrm>
          <a:prstGeom prst="rect">
            <a:avLst/>
          </a:prstGeom>
        </p:spPr>
        <p:txBody>
          <a:bodyPr lIns="0" tIns="0" rIns="0" bIns="0" rtlCol="0" anchor="t">
            <a:spAutoFit/>
          </a:bodyPr>
          <a:lstStyle/>
          <a:p>
            <a:pPr algn="l">
              <a:lnSpc>
                <a:spcPts val="3475"/>
              </a:lnSpc>
              <a:spcBef>
                <a:spcPct val="0"/>
              </a:spcBef>
            </a:pPr>
            <a:r>
              <a:rPr lang="en-US" sz="3159" b="1" noProof="1">
                <a:solidFill>
                  <a:srgbClr val="000000"/>
                </a:solidFill>
                <a:latin typeface="Cabin Semi-Bold"/>
                <a:ea typeface="Cabin Semi-Bold"/>
                <a:cs typeface="Cabin Semi-Bold"/>
                <a:sym typeface="Cabin Semi-Bold"/>
              </a:rPr>
              <a:t>Đảm bảo độ bao phủ kiểm thử cao cho cả những luồng đi chuẩn và những thao tác sai của người dùng.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484</Words>
  <Application>Microsoft Office PowerPoint</Application>
  <PresentationFormat>Custom</PresentationFormat>
  <Paragraphs>33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Cabin Bold</vt:lpstr>
      <vt:lpstr>Cabin Semi-Bold</vt:lpstr>
      <vt:lpstr>Cabin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thuyết trình Công ty Đánh giá Dự án Doanh nghiệp Thông thường Xanh dương và Tím </dc:title>
  <cp:lastModifiedBy>Hữu Ân</cp:lastModifiedBy>
  <cp:revision>5</cp:revision>
  <dcterms:created xsi:type="dcterms:W3CDTF">2006-08-16T00:00:00Z</dcterms:created>
  <dcterms:modified xsi:type="dcterms:W3CDTF">2026-03-17T08:30:25Z</dcterms:modified>
  <dc:identifier>DAHC2UTmmlw</dc:identifier>
</cp:coreProperties>
</file>